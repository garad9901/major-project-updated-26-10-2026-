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demo if there is a screen. Otherwise: one line — every organisation already has the answers its people need, locked inside a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describe this as a chatbot problem. It is an access problem that has existed for decades.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39% and 21% figures are published, not ours. They are the reason a better model is not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converts a technical pitch into a compliance purchase. Deadline is two months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single decision is what makes answers exact instead of plausible, and deletion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GPUs: most traffic needs none. A GPU only helps the last tier, and is a paid upgrade.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row is the price wedge — we sell into organisations that cannot buy GPU clusters.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here is measured on our own hardware and reproducible. Offer to show the load test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live on the investor's own data if they will give you a read-only connection. It is the single most persuasive thing we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challenged on TAM: the honest answer is that the beachhead is small and winnable, and the adjacent markets share the same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₹3 lakh is less than one staff salary and replaces hundreds of hours of manual lookups.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defend each line. The engineering hire is the critical one — today deployment depends entirely on the founder.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offering the live demo. Do not close on the ask — close on the demo, then state the ask when they lean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KOSH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80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data. Your building. Your answers.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AI that answers plain-language questions from a company's own database — exactly, instantly, and without ever training on the data.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·  ₹50 lakh  ·  Om Gawande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answers already exist. Nobody can reach them.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asks when their exam is. A manager asks how many staff are in a department. The answer is sitting in a database, three feet away, and completely out of reach.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6700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SQL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9443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nobody in the organisation does.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53872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51129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someone who does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78561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week disappears into repeat lookups.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7997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35254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a report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62686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question needs a developer.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98080" y="1600200"/>
            <a:ext cx="4114800" cy="3657600"/>
          </a:xfrm>
          <a:prstGeom prst="roundRect">
            <a:avLst>
              <a:gd name="adj" fmla="val 22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0" y="21945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5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3063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new value from data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organisation already paid to collect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114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isn't missing.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access is.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STILL UNSOLVED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existing option gives one of these up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  ·   Current   ·   Correct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97480" cy="306324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718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only what someone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anticipated. Every new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needs a developer.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up coverage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2697480" cy="306324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1188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9718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student, patient 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records to 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up privacy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103120"/>
            <a:ext cx="2697480" cy="306324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4652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local model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9718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 answers, not exact.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forget a deleted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up correctness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2560" y="2103120"/>
            <a:ext cx="2697480" cy="306324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28116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writing SQL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29718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 accurate on benchmarks.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 on real enterprise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up accuracy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BIRD text-to-SQL benchmark, on-premise open-model study; Spider 2.0 production accuracy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DPDP Act makes this urgent — and breaks the alternatives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432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 2026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obligations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691640"/>
            <a:ext cx="27432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57600" y="18745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2027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468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compliance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27432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18745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34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₹250 cr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468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penalty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breach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0" y="1691640"/>
            <a:ext cx="2286000" cy="1554480"/>
          </a:xfrm>
          <a:prstGeom prst="roundRect">
            <a:avLst>
              <a:gd name="adj" fmla="val 529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64040" y="19202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"legitimate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11064240" cy="178308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7307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clause that decides this market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0690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person may demand erasure of their data — and that creates an obligation to retrain any model their data went into.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5720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fine-tuned model cannot honour a deletion request without being rebuilt. Ours never has to — because it is never trained on the customer's data in the first place. Compliance is not a feature we added; it is the architecture.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DPDP Rules notified 14 Nov 2025; phased obligations Nov 2026 and May 2027.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it, point it at the database, ask questions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718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organisation's own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 Nothing leaves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78308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201168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18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9718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schema 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organisation's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vocabulary in minutes.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201168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9718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questions,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answers, with the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shown.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178308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81160" y="201168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811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current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29718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sync worker watches the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 Changes appear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seconds.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450799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decision everything rests on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482803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is never trained on the customer's data. Adaptation happens in indexes and query templates — never in the model's weights.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questions never touch the AI model at all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3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is why it is fast, and why it is exact.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2219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questions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146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from memory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601200" y="2103120"/>
            <a:ext cx="2011680" cy="841248"/>
          </a:xfrm>
          <a:prstGeom prst="roundRect">
            <a:avLst>
              <a:gd name="adj" fmla="val 9783"/>
            </a:avLst>
          </a:prstGeom>
          <a:solidFill>
            <a:srgbClr val="E8F3ED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601200" y="2331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~0.1 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3072384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31912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averages, lookups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483864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directly from the database with a prepared query — no AI involved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0" y="3072384"/>
            <a:ext cx="2011680" cy="841248"/>
          </a:xfrm>
          <a:prstGeom prst="roundRect">
            <a:avLst>
              <a:gd name="adj" fmla="val 9783"/>
            </a:avLst>
          </a:prstGeom>
          <a:solidFill>
            <a:srgbClr val="E8F3ED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601200" y="33009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0.5 s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48640" y="4041648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8680" y="41605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descriptions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4531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overnight, stored, served instantly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01200" y="4041648"/>
            <a:ext cx="2011680" cy="841248"/>
          </a:xfrm>
          <a:prstGeom prst="roundRect">
            <a:avLst>
              <a:gd name="adj" fmla="val 9783"/>
            </a:avLst>
          </a:prstGeom>
          <a:solidFill>
            <a:srgbClr val="E8F3ED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601200" y="42702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~0.1 s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548640" y="5010912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68680" y="51297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open questions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542239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writes the answer, checked against the records before display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01200" y="5010912"/>
            <a:ext cx="2011680" cy="841248"/>
          </a:xfrm>
          <a:prstGeom prst="roundRect">
            <a:avLst>
              <a:gd name="adj" fmla="val 9783"/>
            </a:avLst>
          </a:prstGeom>
          <a:solidFill>
            <a:srgbClr val="FCF1D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601200" y="52395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seconds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989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exact database lookup cannot invent a number. That is the whole point.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competitor cannot simply copy this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12064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22376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local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50976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84832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22311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on site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2231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2311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509760" y="22311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8529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exact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2852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2852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509760" y="2852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328416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3474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today's data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509760" y="3474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096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is real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4096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096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509760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68680" y="47183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its source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47183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47183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509760" y="47183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53400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without a GPU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120640" y="5340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53400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509760" y="53400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who fine-tune inherit an erasure problem they cannot engineer away. That is a legal position, not a feature gap.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built, deployed and measured — not a concept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659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72.8%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real questions answered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AI model involved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659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468 ms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answer time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(95th percentile)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9659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at once, still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in 0.55 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737360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89720" y="19659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379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749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886 genuine user requests over 195 distinct questions — not a synthetic benchmark.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4370832"/>
            <a:ext cx="237744" cy="237744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370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07008" y="435254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today over a live institutional database with real records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4736592"/>
            <a:ext cx="237744" cy="237744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736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471830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production security audit completed: read-only access, injection defences, audit trail on every answer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5102352"/>
            <a:ext cx="237744" cy="237744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1023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207008" y="508406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to Microsoft SQL Server complete — the database most Indian institutions already run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2960" y="5468112"/>
            <a:ext cx="237744" cy="237744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5468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207008" y="544982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cite the records they came from, and refuse rather than guess when they cannot verify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IN TEN SECONDS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demo that ends the conversation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3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question. Same laptop. Same second.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AI assistant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97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staff are in Finance?"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00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4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"Approximately 45."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94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Invented. Ask again and the number changes.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source. No way to know it is wrong.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394960" cy="3108960"/>
          </a:xfrm>
          <a:prstGeom prst="roundRect">
            <a:avLst>
              <a:gd name="adj" fmla="val 264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286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697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staff are in Finance?"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200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1,916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794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from the records, in 0.4 seconds,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rows it used shown underneath.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4864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"Both are AI. Only one can be trusted with a board report."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where the pain is sharpest and the door is open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65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53,636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51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 in India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(AISHE, July 2026)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737360"/>
            <a:ext cx="2377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0" y="1901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212848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colleges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with existing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systems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154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in 24 months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03720" y="1737360"/>
            <a:ext cx="2377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086600" y="1901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212848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universities 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 across India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(69% are privately run)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3154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 realistic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418320" y="1737360"/>
            <a:ext cx="2377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601200" y="1901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0" y="2212848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Hospitals, cooperative banks,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 — same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obligation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0" y="3154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product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8680" y="3950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Bottom-up, not top-down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2793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claiming a share of a trillion-rupee AI market. 1,000 institutions at ₹3 lakh per year is ₹30 crore of recurring revenue — reachable with a small team, and only 2% of Indian colleges.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50292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one of them has a database, a compliance deadline, and no GPU budget.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licence, installed on their hardware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 lakh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420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institution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+ support + updates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1965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~85%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5420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3017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inference cost.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per-query cost.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1965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₹1 lakh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5420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serve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customer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3017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Deployment, support,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upgrades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4224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renew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553712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sits on their compliance path, it holds their data, and it improves every month as it learns which questions they actually ask.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06908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92240" y="4224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path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553712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GPU tier for institutions wanting fast answers to open-ended analysis. Higher licence, same software, no re-engineering.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₹50 lakh to reach three paying institutions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0253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₹24 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2057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engineers, 18 months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52344"/>
            <a:ext cx="54864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971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₹11 L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30266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deployments &amp; hardware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21608"/>
            <a:ext cx="54864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394106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 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39959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runway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90872"/>
            <a:ext cx="54864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12700" dir="5400000">
              <a:srgbClr val="8892A8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49103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 L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4965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DPDP audit, IP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1783080"/>
            <a:ext cx="5303520" cy="3712464"/>
          </a:xfrm>
          <a:prstGeom prst="roundRect">
            <a:avLst>
              <a:gd name="adj" fmla="val 22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2011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₹50 lakh proves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629400" y="2468880"/>
            <a:ext cx="256032" cy="2560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29400" y="2468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245059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institutions paying, under signed contracts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629400" y="2962656"/>
            <a:ext cx="256032" cy="2560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29400" y="2962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294436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one-day install against a database we have never seen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29400" y="3456432"/>
            <a:ext cx="256032" cy="2560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29400" y="3456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343814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compliance position reviewed by counsel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29400" y="3950208"/>
            <a:ext cx="256032" cy="2560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29400" y="3950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39319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repeatable by someone other than the founder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629400" y="4443984"/>
            <a:ext cx="256032" cy="2560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29400" y="4443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442569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raise a priced round on revenue, not a demo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629400" y="5029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months of runway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206240" cy="4206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-1005840"/>
            <a:ext cx="2743200" cy="2743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173736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staff cannot get answers out of your own data without waiting for someone.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46888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AI would leak it. Local AI would make it up.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15468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 all three — private, current, correct — on the hardware you already own.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44348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300" kern="0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KOSH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502920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Gawande  ·  Dept. of AI, St. Vincent Pallotti College of Engineering &amp; Technology, Nagpur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539496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 ·  ₹50 lakh  ·  Working system available to demonstrate today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KOSH — Seed Pitch</dc:title>
  <dc:subject>PptxGenJS Presentation</dc:subject>
  <dc:creator>Om Gawande</dc:creator>
  <cp:lastModifiedBy>Om Gawande</cp:lastModifiedBy>
  <cp:revision>1</cp:revision>
  <dcterms:created xsi:type="dcterms:W3CDTF">2026-09-08T05:34:30Z</dcterms:created>
  <dcterms:modified xsi:type="dcterms:W3CDTF">2026-09-08T05:34:30Z</dcterms:modified>
</cp:coreProperties>
</file>